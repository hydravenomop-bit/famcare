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00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3200400" cy="3200400"/>
          </a:xfrm>
          <a:prstGeom prst="ellipse">
            <a:avLst/>
          </a:prstGeom>
          <a:solidFill>
            <a:srgbClr val="00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606040"/>
            <a:ext cx="73152" cy="1463040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DF5E1"/>
                </a:solidFill>
                <a:latin typeface="Plus Jakarta Sans"/>
              </a:rPr>
              <a:t>Intern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Plus Jakarta Sans"/>
              </a:rPr>
              <a:t>Multi-Service
Bulk Scheduler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DF5E1"/>
                </a:solidFill>
                <a:latin typeface="Manrope"/>
              </a:rPr>
              <a:t>Flutter  ·  FastAPI  · 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463040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3934"/>
                </a:solidFill>
                <a:latin typeface="Plus Jakarta Sans"/>
              </a:rPr>
              <a:t>What are you building?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132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>
                <a:solidFill>
                  <a:srgbClr val="003934"/>
                </a:solidFill>
                <a:latin typeface="Manrope"/>
              </a:rPr>
              <a:t>You're building the booking engine for a home healthcare platform.</a:t>
            </a:r>
          </a:p>
          <a:p>
            <a:pPr algn="l"/>
            <a:r>
              <a:rPr sz="1350">
                <a:solidFill>
                  <a:srgbClr val="003934"/>
                </a:solidFill>
                <a:latin typeface="Manrope"/>
              </a:rPr>
              <a:t>Patients book multiple services across multiple days in a single checkout.</a:t>
            </a:r>
          </a:p>
          <a:p>
            <a:pPr algn="l"/>
            <a:r>
              <a:rPr sz="1350">
                <a:solidFill>
                  <a:srgbClr val="003934"/>
                </a:solidFill>
                <a:latin typeface="Manrope"/>
              </a:rPr>
              <a:t>Each service has its own duration (in 15-min increments), caregiver pool, and price.</a:t>
            </a:r>
          </a:p>
          <a:p>
            <a:pPr algn="l"/>
            <a:r>
              <a:rPr sz="1350">
                <a:solidFill>
                  <a:srgbClr val="003934"/>
                </a:solidFill>
                <a:latin typeface="Manrope"/>
              </a:rPr>
              <a:t>The patient pays once for the entire cart.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B60"/>
                </a:solidFill>
                <a:latin typeface="Plus Jakarta Sans"/>
              </a:rPr>
              <a:t>Example 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2468880" cy="164592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Physiotherapy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70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F5E1"/>
                </a:solidFill>
                <a:latin typeface="Manrope"/>
              </a:rPr>
              <a:t>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F5E1"/>
                </a:solidFill>
                <a:latin typeface="Manrope"/>
              </a:rPr>
              <a:t>Mon 10:00 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3840480"/>
            <a:ext cx="2468880" cy="164592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Wound Dressing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370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F5E1"/>
                </a:solidFill>
                <a:latin typeface="Manrope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709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F5E1"/>
                </a:solidFill>
                <a:latin typeface="Manrope"/>
              </a:rPr>
              <a:t>Mon  3:00 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3840480"/>
            <a:ext cx="2468880" cy="164592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9776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Physiotherapy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3708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F5E1"/>
                </a:solidFill>
                <a:latin typeface="Manrope"/>
              </a:rPr>
              <a:t>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709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F5E1"/>
                </a:solidFill>
                <a:latin typeface="Manrope"/>
              </a:rPr>
              <a:t>Wed 10:00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6761"/>
                </a:solidFill>
                <a:latin typeface="Manrope"/>
              </a:rPr>
              <a:t>3 slots  ·  2 services  ·  2 days  ·  1 transaction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B60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BACKEND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02920"/>
            <a:ext cx="1280160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934"/>
                </a:solidFill>
                <a:latin typeface="Plus Jakarta Sans"/>
              </a:rPr>
              <a:t>FastAPI  · 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192024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F5E1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934"/>
                </a:solidFill>
                <a:latin typeface="Plus Jakarta Sans"/>
              </a:rPr>
              <a:t>Slot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GET /slots/available?service_id=&amp;date=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86761"/>
                </a:solidFill>
                <a:latin typeface="Manrope"/>
              </a:rPr>
              <a:t>Return open 15-min aligned slots for a service on a given date.</a:t>
            </a:r>
          </a:p>
          <a:p>
            <a:pPr algn="l"/>
            <a:r>
              <a:rPr sz="1100">
                <a:solidFill>
                  <a:srgbClr val="386761"/>
                </a:solidFill>
                <a:latin typeface="Manrope"/>
              </a:rPr>
              <a:t>Must exclude slots already booked by another patient or caregiver.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64008" cy="192024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920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F5E1"/>
                </a:solidFill>
                <a:latin typeface="Plus Jakarta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934"/>
                </a:solidFill>
                <a:latin typeface="Plus Jakarta Sans"/>
              </a:rPr>
              <a:t>Atomic Checkout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POST /cart/checkout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86761"/>
                </a:solidFill>
                <a:latin typeface="Manrope"/>
              </a:rPr>
              <a:t>Accept a list of {service_id, caregiver_id, start_time, date} items.</a:t>
            </a:r>
          </a:p>
          <a:p>
            <a:pPr algn="l"/>
            <a:r>
              <a:rPr sz="1100">
                <a:solidFill>
                  <a:srgbClr val="386761"/>
                </a:solidFill>
                <a:latin typeface="Manrope"/>
              </a:rPr>
              <a:t>If any slot fails — entire checkout rolls back. No partial bookings.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77639"/>
            <a:ext cx="53949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77639"/>
            <a:ext cx="64008" cy="192024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69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DF5E1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433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934"/>
                </a:solidFill>
                <a:latin typeface="Plus Jakarta Sans"/>
              </a:rPr>
              <a:t>Overlap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27447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Caregiver + Patient conflict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2919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86761"/>
                </a:solidFill>
                <a:latin typeface="Manrope"/>
              </a:rPr>
              <a:t>A caregiver cannot have overlapping bookings (account for full service duration).</a:t>
            </a:r>
          </a:p>
          <a:p>
            <a:pPr algn="l"/>
            <a:r>
              <a:rPr sz="1100">
                <a:solidFill>
                  <a:srgbClr val="386761"/>
                </a:solidFill>
                <a:latin typeface="Manrope"/>
              </a:rPr>
              <a:t>A patient cannot have two services overlapping across the same day.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B60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280160" cy="347472"/>
          </a:xfrm>
          <a:prstGeom prst="rect">
            <a:avLst/>
          </a:prstGeom>
          <a:solidFill>
            <a:srgbClr val="B2E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36577"/>
                </a:solidFill>
                <a:latin typeface="Manrope"/>
              </a:rPr>
              <a:t>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3934"/>
                </a:solidFill>
                <a:latin typeface="Plus Jakarta Sans"/>
              </a:rPr>
              <a:t>Flutter  ·  Riverpod  ·  Dart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64008" cy="1005840"/>
          </a:xfrm>
          <a:prstGeom prst="rect">
            <a:avLst/>
          </a:prstGeom>
          <a:solidFill>
            <a:srgbClr val="3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6577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01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934"/>
                </a:solidFill>
                <a:latin typeface="Plus Jakarta Sans"/>
              </a:rPr>
              <a:t>Service + Date + Slot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86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86761"/>
                </a:solidFill>
                <a:latin typeface="Manrope"/>
              </a:rPr>
              <a:t>Patient selects a service, picks a date, then picks from available</a:t>
            </a:r>
          </a:p>
          <a:p>
            <a:pPr algn="l"/>
            <a:r>
              <a:rPr sz="1200">
                <a:solidFill>
                  <a:srgbClr val="386761"/>
                </a:solidFill>
                <a:latin typeface="Manrope"/>
              </a:rPr>
              <a:t>time slots returned by the backend. Can add multiple items to cart.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0881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71800"/>
            <a:ext cx="64008" cy="1005840"/>
          </a:xfrm>
          <a:prstGeom prst="rect">
            <a:avLst/>
          </a:prstGeom>
          <a:solidFill>
            <a:srgbClr val="3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17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6577"/>
                </a:solidFill>
                <a:latin typeface="Plus Jakarta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44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934"/>
                </a:solidFill>
                <a:latin typeface="Plus Jakarta Sans"/>
              </a:rPr>
              <a:t>Cart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29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86761"/>
                </a:solidFill>
                <a:latin typeface="Manrope"/>
              </a:rPr>
              <a:t>Shows all selected {service, date, slot, price} items.</a:t>
            </a:r>
          </a:p>
          <a:p>
            <a:pPr algn="l"/>
            <a:r>
              <a:rPr sz="1200">
                <a:solidFill>
                  <a:srgbClr val="386761"/>
                </a:solidFill>
                <a:latin typeface="Manrope"/>
              </a:rPr>
              <a:t>Displays total price. Remove individual items. Confirm button.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14800"/>
            <a:ext cx="1088136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64008" cy="1005840"/>
          </a:xfrm>
          <a:prstGeom prst="rect">
            <a:avLst/>
          </a:prstGeom>
          <a:solidFill>
            <a:srgbClr val="336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6577"/>
                </a:solidFill>
                <a:latin typeface="Plus Jakarta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1879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3934"/>
                </a:solidFill>
                <a:latin typeface="Plus Jakarta Sans"/>
              </a:rPr>
              <a:t>Checkout &amp; outcome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72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386761"/>
                </a:solidFill>
                <a:latin typeface="Manrope"/>
              </a:rPr>
              <a:t>Calls POST /cart/checkout. Must handle 2 outcomes clearly:</a:t>
            </a:r>
          </a:p>
          <a:p>
            <a:pPr algn="l"/>
            <a:r>
              <a:rPr sz="1200">
                <a:solidFill>
                  <a:srgbClr val="386761"/>
                </a:solidFill>
                <a:latin typeface="Manrope"/>
              </a:rPr>
              <a:t>✓ Full success — confirmation screen   ✗ Full failure — show which slot caused it and why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4837D"/>
                </a:solidFill>
                <a:latin typeface="Manrope"/>
              </a:rPr>
              <a:t>Focus is on correct behavior — UI does not need to be polished.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B60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00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645920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Plus Jakarta Sans"/>
              </a:rPr>
              <a:t>The hard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47472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8288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B60"/>
                </a:solidFill>
                <a:latin typeface="Plus Jakarta San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288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No hardcoded durations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762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6DF5E1"/>
                </a:solidFill>
                <a:latin typeface="Manrope"/>
              </a:rPr>
              <a:t>Slot duration must come from the service definition, never hardcoded.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347472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43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B60"/>
                </a:solidFill>
                <a:latin typeface="Plus Jakarta San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432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Atomic checkout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0906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6DF5E1"/>
                </a:solidFill>
                <a:latin typeface="Manrope"/>
              </a:rPr>
              <a:t>Use whatever mechanism you think is correct — DB transaction or optimistic locking.</a:t>
            </a:r>
          </a:p>
          <a:p>
            <a:pPr algn="l"/>
            <a:r>
              <a:rPr sz="1150">
                <a:solidFill>
                  <a:srgbClr val="6DF5E1"/>
                </a:solidFill>
                <a:latin typeface="Manrope"/>
              </a:rPr>
              <a:t>Justify your choice in the README.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347472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6576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B60"/>
                </a:solidFill>
                <a:latin typeface="Plus Jakarta San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No partial bookings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0050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6DF5E1"/>
                </a:solidFill>
                <a:latin typeface="Manrope"/>
              </a:rPr>
              <a:t>Either all slots in the cart are booked or none are. Ever.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572000"/>
            <a:ext cx="347472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5720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B60"/>
                </a:solidFill>
                <a:latin typeface="Plus Jakarta San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7200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lus Jakarta Sans"/>
              </a:rPr>
              <a:t>Conflict detection uses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9194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6DF5E1"/>
                </a:solidFill>
                <a:latin typeface="Manrope"/>
              </a:rPr>
              <a:t>Overlap checks must use the full service duration, not just the start time.</a:t>
            </a:r>
          </a:p>
          <a:p>
            <a:pPr algn="l"/>
            <a:r>
              <a:rPr sz="1150">
                <a:solidFill>
                  <a:srgbClr val="6DF5E1"/>
                </a:solidFill>
                <a:latin typeface="Manrope"/>
              </a:rPr>
              <a:t>A 60-min slot starting at 10am blocks until 11am.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828800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3934"/>
                </a:solidFill>
                <a:latin typeface="Plus Jakarta Sans"/>
              </a:rPr>
              <a:t>What we actually care about.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20240"/>
            <a:ext cx="5394960" cy="64008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DESIGN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231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How did you make checkout atomic?</a:t>
            </a:r>
          </a:p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DB transaction, optimistic locking — why that choice?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394960" cy="64008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0848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CONFLICT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4231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Does your overlap check use start time only, or full duration?</a:t>
            </a:r>
          </a:p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Show us the query.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023360"/>
            <a:ext cx="5394960" cy="64008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187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FAILURE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5262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Which slot failed and why — does the Flutter UI tell the user clearly?</a:t>
            </a:r>
          </a:p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What does the error state actually look like?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02336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023360"/>
            <a:ext cx="5394960" cy="64008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187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60"/>
                </a:solidFill>
                <a:latin typeface="Manrope"/>
              </a:rPr>
              <a:t>README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5262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Does your README explain your schema and design decisions?</a:t>
            </a:r>
          </a:p>
          <a:p>
            <a:pPr algn="l"/>
            <a:r>
              <a:rPr sz="1300">
                <a:solidFill>
                  <a:srgbClr val="003934"/>
                </a:solidFill>
                <a:latin typeface="Manrope"/>
              </a:rPr>
              <a:t>What would you do differently with more time?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3836"/>
                </a:solidFill>
                <a:latin typeface="Manrope"/>
              </a:rPr>
              <a:t>We will ask you to walk through your checkout logic and conflict detection live.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B60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1645920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3934"/>
                </a:solidFill>
                <a:latin typeface="Plus Jakarta Sans"/>
              </a:rPr>
              <a:t>Submit in exactly 2 days. No extensions.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6B60"/>
                </a:solidFill>
                <a:latin typeface="Plus Jakarta Sans"/>
              </a:rPr>
              <a:t>What to submit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23160"/>
            <a:ext cx="256032" cy="25603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33172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Public GitHub repository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81527"/>
            <a:ext cx="256032" cy="25603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7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990087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Working FastAPI server — runnable locally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39896"/>
            <a:ext cx="256032" cy="25603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9417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64845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Working Flutter app — prototype quality is fine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98264"/>
            <a:ext cx="256032" cy="25603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525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306824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DB schema script or SQL included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56632"/>
            <a:ext cx="256032" cy="25603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1091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96519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pytest tests for atomic checkout and conflict detection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714999"/>
            <a:ext cx="256032" cy="25603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669279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623559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README covering: setup, design decisions, tradeoffs,</a:t>
            </a:r>
          </a:p>
          <a:p>
            <a:pPr algn="l"/>
            <a:r>
              <a:rPr sz="1250">
                <a:solidFill>
                  <a:srgbClr val="003934"/>
                </a:solidFill>
                <a:latin typeface="Manrope"/>
              </a:rPr>
              <a:t>what breaks first under load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828800"/>
            <a:ext cx="4754880" cy="438912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lus Jakarta Sans"/>
              </a:rPr>
              <a:t>Ground rules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DF5E1"/>
                </a:solidFill>
                <a:latin typeface="Manrope"/>
              </a:rPr>
              <a:t>— You may use AI tools.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218687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DF5E1"/>
                </a:solidFill>
                <a:latin typeface="Manrope"/>
              </a:rPr>
              <a:t>— Be ready to explain every line in the interview.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87705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DF5E1"/>
                </a:solidFill>
                <a:latin typeface="Manrope"/>
              </a:rPr>
              <a:t>— UI does not need to look good.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53542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DF5E1"/>
                </a:solidFill>
                <a:latin typeface="Manrope"/>
              </a:rPr>
              <a:t>— Correct behavior under the constraints matters most.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19379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6DF5E1"/>
                </a:solidFill>
                <a:latin typeface="Manrope"/>
              </a:rPr>
              <a:t>— Speed matters — 2 days, not a month.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B60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502920"/>
            <a:ext cx="2011680" cy="347472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6B60"/>
                </a:solidFill>
                <a:latin typeface="Manrope"/>
              </a:rPr>
              <a:t>BEFORE YOU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3934"/>
                </a:solidFill>
                <a:latin typeface="Plus Jakarta Sans"/>
              </a:rPr>
              <a:t>Questions you should ask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6761"/>
                </a:solidFill>
                <a:latin typeface="Manrope"/>
              </a:rPr>
              <a:t>Good engineers ask before they assume. These are the questions we expect.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5661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3566160" cy="54864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34"/>
                </a:solidFill>
                <a:latin typeface="Plus Jakarta Sans"/>
              </a:rPr>
              <a:t>Conflict resolution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If two patients book the same caregiver at the same time — who wins?</a:t>
            </a:r>
          </a:p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Do we tell the loser immediately or after checkout?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286000"/>
            <a:ext cx="35661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286000"/>
            <a:ext cx="3566160" cy="54864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450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34"/>
                </a:solidFill>
                <a:latin typeface="Plus Jakarta Sans"/>
              </a:rPr>
              <a:t>Service duration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346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Where does service duration come from — a config file, a database table,</a:t>
            </a:r>
          </a:p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or an API? Can it change after a slot is booked?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286000"/>
            <a:ext cx="35661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286000"/>
            <a:ext cx="3566160" cy="54864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24505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34"/>
                </a:solidFill>
                <a:latin typeface="Plus Jakarta Sans"/>
              </a:rPr>
              <a:t>Caregiver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83464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Does the patient pick their caregiver, or does the system assign one?</a:t>
            </a:r>
          </a:p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What if no caregiver is available for a selected slot?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51960"/>
            <a:ext cx="35661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251960"/>
            <a:ext cx="3566160" cy="54864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16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34"/>
                </a:solidFill>
                <a:latin typeface="Plus Jakarta Sans"/>
              </a:rPr>
              <a:t>Partial cart failure 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If 2 of 3 slots succeed and 1 fails — do we roll everything back,</a:t>
            </a:r>
          </a:p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or let the patient retry just the failed slot?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4251960"/>
            <a:ext cx="356616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80560" y="4251960"/>
            <a:ext cx="3566160" cy="54864"/>
          </a:xfrm>
          <a:prstGeom prst="rect">
            <a:avLst/>
          </a:prstGeom>
          <a:solidFill>
            <a:srgbClr val="6DF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416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3934"/>
                </a:solidFill>
                <a:latin typeface="Plus Jakarta Sans"/>
              </a:rPr>
              <a:t>Pricing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800600"/>
            <a:ext cx="3337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Is price fixed per service or per caregiver?</a:t>
            </a:r>
          </a:p>
          <a:p>
            <a:pPr algn="l"/>
            <a:r>
              <a:rPr sz="1150">
                <a:solidFill>
                  <a:srgbClr val="386761"/>
                </a:solidFill>
                <a:latin typeface="Manrope"/>
              </a:rPr>
              <a:t>Are there discounts for booking multiple slots at once?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006B60"/>
                </a:solidFill>
                <a:latin typeface="Manrope"/>
              </a:rPr>
              <a:t>Not asking any of these is a signal.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006B60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6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00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lus Jakarta Sans"/>
              </a:rPr>
              <a:t>Build something that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DF5E1"/>
                </a:solidFill>
                <a:latin typeface="Manrope"/>
              </a:rPr>
              <a:t>Not something that looks like it 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lus Jakarta Sans"/>
              </a:rPr>
              <a:t>FamCare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